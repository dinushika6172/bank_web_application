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4341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10886" y="21772"/>
            <a:ext cx="14630400" cy="8229600"/>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864037" y="708779"/>
            <a:ext cx="7415927" cy="3361849"/>
          </a:xfrm>
          <a:prstGeom prst="rect">
            <a:avLst/>
          </a:prstGeom>
          <a:noFill/>
          <a:ln/>
        </p:spPr>
        <p:txBody>
          <a:bodyPr wrap="square" rtlCol="0" anchor="t"/>
          <a:lstStyle/>
          <a:p>
            <a:pPr marL="0" indent="0">
              <a:lnSpc>
                <a:spcPts val="8825"/>
              </a:lnSpc>
              <a:buNone/>
            </a:pPr>
            <a:r>
              <a:rPr lang="en-US" sz="7060" b="1" dirty="0">
                <a:solidFill>
                  <a:srgbClr val="1F1E1E"/>
                </a:solidFill>
                <a:latin typeface="Alexandria" pitchFamily="34" charset="0"/>
                <a:ea typeface="Alexandria" pitchFamily="34" charset="-122"/>
                <a:cs typeface="Alexandria" pitchFamily="34" charset="-120"/>
              </a:rPr>
              <a:t>Trust fund Bank Web Application</a:t>
            </a:r>
            <a:endParaRPr lang="en-US" sz="7060" dirty="0"/>
          </a:p>
        </p:txBody>
      </p:sp>
      <p:sp>
        <p:nvSpPr>
          <p:cNvPr id="6" name="Text 3"/>
          <p:cNvSpPr/>
          <p:nvPr/>
        </p:nvSpPr>
        <p:spPr>
          <a:xfrm>
            <a:off x="864037" y="4440912"/>
            <a:ext cx="7415927" cy="2370296"/>
          </a:xfrm>
          <a:prstGeom prst="rect">
            <a:avLst/>
          </a:prstGeom>
          <a:noFill/>
          <a:ln/>
        </p:spPr>
        <p:txBody>
          <a:bodyPr wrap="square" rtlCol="0" anchor="t"/>
          <a:lstStyle/>
          <a:p>
            <a:pPr marL="0" indent="0">
              <a:lnSpc>
                <a:spcPts val="3110"/>
              </a:lnSpc>
              <a:buNone/>
            </a:pPr>
            <a:r>
              <a:rPr lang="en-US" sz="1944" dirty="0">
                <a:solidFill>
                  <a:srgbClr val="3B3535"/>
                </a:solidFill>
                <a:latin typeface="Sora" pitchFamily="34" charset="0"/>
                <a:ea typeface="Sora" pitchFamily="34" charset="-122"/>
                <a:cs typeface="Sora" pitchFamily="34" charset="-120"/>
              </a:rPr>
              <a:t>Welcome to the Trust fund Bank Web Application presentation, designed to revolutionize banking services in Sri Lanka. This presentation will provide a comprehensive overview of the application, highlighting its key features, technological foundation, and commitment to providing secure and innovative financial solutions.</a:t>
            </a:r>
            <a:endParaRPr lang="en-US" sz="1944" dirty="0"/>
          </a:p>
        </p:txBody>
      </p:sp>
      <p:sp>
        <p:nvSpPr>
          <p:cNvPr id="7" name="Shape 4"/>
          <p:cNvSpPr/>
          <p:nvPr/>
        </p:nvSpPr>
        <p:spPr>
          <a:xfrm>
            <a:off x="864037" y="7107317"/>
            <a:ext cx="394930" cy="394930"/>
          </a:xfrm>
          <a:prstGeom prst="roundRect">
            <a:avLst>
              <a:gd name="adj" fmla="val 23151155"/>
            </a:avLst>
          </a:prstGeom>
          <a:noFill/>
          <a:ln w="7620">
            <a:solidFill>
              <a:srgbClr val="FFFFFF"/>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229600"/>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091238" y="1153001"/>
            <a:ext cx="7934325" cy="1137047"/>
          </a:xfrm>
          <a:prstGeom prst="rect">
            <a:avLst/>
          </a:prstGeom>
          <a:noFill/>
          <a:ln/>
        </p:spPr>
        <p:txBody>
          <a:bodyPr wrap="square" rtlCol="0" anchor="t"/>
          <a:lstStyle/>
          <a:p>
            <a:pPr marL="0" indent="0">
              <a:lnSpc>
                <a:spcPts val="4476"/>
              </a:lnSpc>
              <a:buNone/>
            </a:pPr>
            <a:r>
              <a:rPr lang="en-US" sz="3581" b="1" dirty="0">
                <a:solidFill>
                  <a:srgbClr val="1F1E1E"/>
                </a:solidFill>
                <a:latin typeface="Alexandria" pitchFamily="34" charset="0"/>
                <a:ea typeface="Alexandria" pitchFamily="34" charset="-122"/>
                <a:cs typeface="Alexandria" pitchFamily="34" charset="-120"/>
              </a:rPr>
              <a:t>Introduction to Trustfund Bank of Sri Lanka (TFBS)</a:t>
            </a:r>
            <a:endParaRPr lang="en-US" sz="3581" dirty="0"/>
          </a:p>
        </p:txBody>
      </p:sp>
      <p:sp>
        <p:nvSpPr>
          <p:cNvPr id="6" name="Shape 3"/>
          <p:cNvSpPr/>
          <p:nvPr/>
        </p:nvSpPr>
        <p:spPr>
          <a:xfrm>
            <a:off x="6091238" y="2549247"/>
            <a:ext cx="7934325" cy="1301710"/>
          </a:xfrm>
          <a:prstGeom prst="roundRect">
            <a:avLst>
              <a:gd name="adj" fmla="val 5576"/>
            </a:avLst>
          </a:prstGeom>
          <a:solidFill>
            <a:srgbClr val="D5DCF6"/>
          </a:solidFill>
          <a:ln w="7620">
            <a:solidFill>
              <a:srgbClr val="BBC2DC"/>
            </a:solidFill>
            <a:prstDash val="solid"/>
          </a:ln>
        </p:spPr>
        <p:txBody>
          <a:bodyPr/>
          <a:lstStyle/>
          <a:p>
            <a:endParaRPr lang="en-US"/>
          </a:p>
        </p:txBody>
      </p:sp>
      <p:sp>
        <p:nvSpPr>
          <p:cNvPr id="7" name="Text 4"/>
          <p:cNvSpPr/>
          <p:nvPr/>
        </p:nvSpPr>
        <p:spPr>
          <a:xfrm>
            <a:off x="6271617" y="2729627"/>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Mission</a:t>
            </a:r>
            <a:endParaRPr lang="en-US" sz="1791" dirty="0"/>
          </a:p>
        </p:txBody>
      </p:sp>
      <p:sp>
        <p:nvSpPr>
          <p:cNvPr id="8" name="Text 5"/>
          <p:cNvSpPr/>
          <p:nvPr/>
        </p:nvSpPr>
        <p:spPr>
          <a:xfrm>
            <a:off x="6271617" y="3117413"/>
            <a:ext cx="7573566" cy="553164"/>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Empowering customers with secure, innovative, and accessible financial solutions, enabling individuals and businesses to achieve their financial goals.</a:t>
            </a:r>
            <a:endParaRPr lang="en-US" sz="1361" dirty="0"/>
          </a:p>
        </p:txBody>
      </p:sp>
      <p:sp>
        <p:nvSpPr>
          <p:cNvPr id="9" name="Shape 6"/>
          <p:cNvSpPr/>
          <p:nvPr/>
        </p:nvSpPr>
        <p:spPr>
          <a:xfrm>
            <a:off x="6091238" y="4023717"/>
            <a:ext cx="7934325" cy="1578293"/>
          </a:xfrm>
          <a:prstGeom prst="roundRect">
            <a:avLst>
              <a:gd name="adj" fmla="val 4599"/>
            </a:avLst>
          </a:prstGeom>
          <a:solidFill>
            <a:srgbClr val="D5DCF6"/>
          </a:solidFill>
          <a:ln w="7620">
            <a:solidFill>
              <a:srgbClr val="BBC2DC"/>
            </a:solidFill>
            <a:prstDash val="solid"/>
          </a:ln>
        </p:spPr>
        <p:txBody>
          <a:bodyPr/>
          <a:lstStyle/>
          <a:p>
            <a:endParaRPr lang="en-US"/>
          </a:p>
        </p:txBody>
      </p:sp>
      <p:sp>
        <p:nvSpPr>
          <p:cNvPr id="10" name="Text 7"/>
          <p:cNvSpPr/>
          <p:nvPr/>
        </p:nvSpPr>
        <p:spPr>
          <a:xfrm>
            <a:off x="6271617" y="4204097"/>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Vision</a:t>
            </a:r>
            <a:endParaRPr lang="en-US" sz="1791" dirty="0"/>
          </a:p>
        </p:txBody>
      </p:sp>
      <p:sp>
        <p:nvSpPr>
          <p:cNvPr id="11" name="Text 8"/>
          <p:cNvSpPr/>
          <p:nvPr/>
        </p:nvSpPr>
        <p:spPr>
          <a:xfrm>
            <a:off x="6271617" y="4591883"/>
            <a:ext cx="7573566" cy="829747"/>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To become the most trusted and preferred financial institution in Sri Lanka, known for its exceptional customer service, cutting-edge technology, and commitment to ethical practices.</a:t>
            </a:r>
            <a:endParaRPr lang="en-US" sz="1361" dirty="0"/>
          </a:p>
        </p:txBody>
      </p:sp>
      <p:sp>
        <p:nvSpPr>
          <p:cNvPr id="12" name="Shape 9"/>
          <p:cNvSpPr/>
          <p:nvPr/>
        </p:nvSpPr>
        <p:spPr>
          <a:xfrm>
            <a:off x="6091238" y="5774769"/>
            <a:ext cx="7934325" cy="1301710"/>
          </a:xfrm>
          <a:prstGeom prst="roundRect">
            <a:avLst>
              <a:gd name="adj" fmla="val 5576"/>
            </a:avLst>
          </a:prstGeom>
          <a:solidFill>
            <a:srgbClr val="D5DCF6"/>
          </a:solidFill>
          <a:ln w="7620">
            <a:solidFill>
              <a:srgbClr val="BBC2DC"/>
            </a:solidFill>
            <a:prstDash val="solid"/>
          </a:ln>
        </p:spPr>
        <p:txBody>
          <a:bodyPr/>
          <a:lstStyle/>
          <a:p>
            <a:endParaRPr lang="en-US"/>
          </a:p>
        </p:txBody>
      </p:sp>
      <p:sp>
        <p:nvSpPr>
          <p:cNvPr id="13" name="Text 10"/>
          <p:cNvSpPr/>
          <p:nvPr/>
        </p:nvSpPr>
        <p:spPr>
          <a:xfrm>
            <a:off x="6271617" y="5955149"/>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Values</a:t>
            </a:r>
            <a:endParaRPr lang="en-US" sz="1791" dirty="0"/>
          </a:p>
        </p:txBody>
      </p:sp>
      <p:sp>
        <p:nvSpPr>
          <p:cNvPr id="14" name="Text 11"/>
          <p:cNvSpPr/>
          <p:nvPr/>
        </p:nvSpPr>
        <p:spPr>
          <a:xfrm>
            <a:off x="6271617" y="6342936"/>
            <a:ext cx="7573566" cy="553164"/>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Integrity, transparency, innovation, customer-centricity, and social responsibility drive our every decision, ensuring trust and reliability in all our endeavors.</a:t>
            </a:r>
            <a:endParaRPr lang="en-US" sz="136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512254"/>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5486400" cy="8512254"/>
          </a:xfrm>
          <a:prstGeom prst="rect">
            <a:avLst/>
          </a:prstGeom>
        </p:spPr>
      </p:pic>
      <p:sp>
        <p:nvSpPr>
          <p:cNvPr id="5" name="Text 2"/>
          <p:cNvSpPr/>
          <p:nvPr/>
        </p:nvSpPr>
        <p:spPr>
          <a:xfrm>
            <a:off x="6091238" y="475178"/>
            <a:ext cx="7934325" cy="1137047"/>
          </a:xfrm>
          <a:prstGeom prst="rect">
            <a:avLst/>
          </a:prstGeom>
          <a:noFill/>
          <a:ln/>
        </p:spPr>
        <p:txBody>
          <a:bodyPr wrap="square" rtlCol="0" anchor="t"/>
          <a:lstStyle/>
          <a:p>
            <a:pPr marL="0" indent="0">
              <a:lnSpc>
                <a:spcPts val="4476"/>
              </a:lnSpc>
              <a:buNone/>
            </a:pPr>
            <a:r>
              <a:rPr lang="en-US" sz="3581" b="1" dirty="0">
                <a:solidFill>
                  <a:srgbClr val="1F1E1E"/>
                </a:solidFill>
                <a:latin typeface="Alexandria" pitchFamily="34" charset="0"/>
                <a:ea typeface="Alexandria" pitchFamily="34" charset="-122"/>
                <a:cs typeface="Alexandria" pitchFamily="34" charset="-120"/>
              </a:rPr>
              <a:t>Project Overview: Revolutionizing Banking</a:t>
            </a:r>
            <a:endParaRPr lang="en-US" sz="3581" dirty="0"/>
          </a:p>
        </p:txBody>
      </p:sp>
      <p:sp>
        <p:nvSpPr>
          <p:cNvPr id="6" name="Shape 3"/>
          <p:cNvSpPr/>
          <p:nvPr/>
        </p:nvSpPr>
        <p:spPr>
          <a:xfrm>
            <a:off x="6091238" y="2065734"/>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7" name="Text 4"/>
          <p:cNvSpPr/>
          <p:nvPr/>
        </p:nvSpPr>
        <p:spPr>
          <a:xfrm>
            <a:off x="6231969" y="2123599"/>
            <a:ext cx="107275"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1</a:t>
            </a:r>
            <a:endParaRPr lang="en-US" sz="2149" dirty="0"/>
          </a:p>
        </p:txBody>
      </p:sp>
      <p:sp>
        <p:nvSpPr>
          <p:cNvPr id="8" name="Text 5"/>
          <p:cNvSpPr/>
          <p:nvPr/>
        </p:nvSpPr>
        <p:spPr>
          <a:xfrm>
            <a:off x="6652736" y="2065734"/>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Purpose</a:t>
            </a:r>
            <a:endParaRPr lang="en-US" sz="1791" dirty="0"/>
          </a:p>
        </p:txBody>
      </p:sp>
      <p:sp>
        <p:nvSpPr>
          <p:cNvPr id="9" name="Text 6"/>
          <p:cNvSpPr/>
          <p:nvPr/>
        </p:nvSpPr>
        <p:spPr>
          <a:xfrm>
            <a:off x="6652736" y="2453521"/>
            <a:ext cx="7372826" cy="829747"/>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To provide individuals, businesses, and communities with a comprehensive and secure online banking platform that simplifies financial transactions, streamlines financial management, and enhances access to financial services.</a:t>
            </a:r>
            <a:endParaRPr lang="en-US" sz="1361" dirty="0"/>
          </a:p>
        </p:txBody>
      </p:sp>
      <p:sp>
        <p:nvSpPr>
          <p:cNvPr id="10" name="Shape 7"/>
          <p:cNvSpPr/>
          <p:nvPr/>
        </p:nvSpPr>
        <p:spPr>
          <a:xfrm>
            <a:off x="6091238" y="3650337"/>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11" name="Text 8"/>
          <p:cNvSpPr/>
          <p:nvPr/>
        </p:nvSpPr>
        <p:spPr>
          <a:xfrm>
            <a:off x="6204109" y="3708202"/>
            <a:ext cx="162878"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2</a:t>
            </a:r>
            <a:endParaRPr lang="en-US" sz="2149" dirty="0"/>
          </a:p>
        </p:txBody>
      </p:sp>
      <p:sp>
        <p:nvSpPr>
          <p:cNvPr id="12" name="Text 9"/>
          <p:cNvSpPr/>
          <p:nvPr/>
        </p:nvSpPr>
        <p:spPr>
          <a:xfrm>
            <a:off x="6652736" y="3650337"/>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Target Audience</a:t>
            </a:r>
            <a:endParaRPr lang="en-US" sz="1791" dirty="0"/>
          </a:p>
        </p:txBody>
      </p:sp>
      <p:sp>
        <p:nvSpPr>
          <p:cNvPr id="13" name="Text 10"/>
          <p:cNvSpPr/>
          <p:nvPr/>
        </p:nvSpPr>
        <p:spPr>
          <a:xfrm>
            <a:off x="6652736" y="4038124"/>
            <a:ext cx="7372826" cy="829747"/>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The application caters to a wide range of users, including individuals seeking personal banking services, businesses needing financial management tools, and communities requiring access to financial literacy resources.</a:t>
            </a:r>
            <a:endParaRPr lang="en-US" sz="1361" dirty="0"/>
          </a:p>
        </p:txBody>
      </p:sp>
      <p:sp>
        <p:nvSpPr>
          <p:cNvPr id="14" name="Shape 11"/>
          <p:cNvSpPr/>
          <p:nvPr/>
        </p:nvSpPr>
        <p:spPr>
          <a:xfrm>
            <a:off x="6091238" y="5234940"/>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15" name="Text 12"/>
          <p:cNvSpPr/>
          <p:nvPr/>
        </p:nvSpPr>
        <p:spPr>
          <a:xfrm>
            <a:off x="6203990" y="5292804"/>
            <a:ext cx="163235"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3</a:t>
            </a:r>
            <a:endParaRPr lang="en-US" sz="2149" dirty="0"/>
          </a:p>
        </p:txBody>
      </p:sp>
      <p:sp>
        <p:nvSpPr>
          <p:cNvPr id="16" name="Text 13"/>
          <p:cNvSpPr/>
          <p:nvPr/>
        </p:nvSpPr>
        <p:spPr>
          <a:xfrm>
            <a:off x="6652736" y="5234940"/>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Key Features</a:t>
            </a:r>
            <a:endParaRPr lang="en-US" sz="1791" dirty="0"/>
          </a:p>
        </p:txBody>
      </p:sp>
      <p:sp>
        <p:nvSpPr>
          <p:cNvPr id="17" name="Text 14"/>
          <p:cNvSpPr/>
          <p:nvPr/>
        </p:nvSpPr>
        <p:spPr>
          <a:xfrm>
            <a:off x="6652736" y="5622727"/>
            <a:ext cx="7372826" cy="829747"/>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The Trustfund Bank web application offers a robust suite of features, including online banking, account management, loan services, financial tracking, and 24/7 customer support.</a:t>
            </a:r>
            <a:endParaRPr lang="en-US" sz="1361" dirty="0"/>
          </a:p>
        </p:txBody>
      </p:sp>
      <p:sp>
        <p:nvSpPr>
          <p:cNvPr id="18" name="Shape 15"/>
          <p:cNvSpPr/>
          <p:nvPr/>
        </p:nvSpPr>
        <p:spPr>
          <a:xfrm>
            <a:off x="6091238" y="6819543"/>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19" name="Text 16"/>
          <p:cNvSpPr/>
          <p:nvPr/>
        </p:nvSpPr>
        <p:spPr>
          <a:xfrm>
            <a:off x="6203275" y="6877407"/>
            <a:ext cx="164544"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4</a:t>
            </a:r>
            <a:endParaRPr lang="en-US" sz="2149" dirty="0"/>
          </a:p>
        </p:txBody>
      </p:sp>
      <p:sp>
        <p:nvSpPr>
          <p:cNvPr id="20" name="Text 17"/>
          <p:cNvSpPr/>
          <p:nvPr/>
        </p:nvSpPr>
        <p:spPr>
          <a:xfrm>
            <a:off x="6652736" y="6819543"/>
            <a:ext cx="2273856" cy="284202"/>
          </a:xfrm>
          <a:prstGeom prst="rect">
            <a:avLst/>
          </a:prstGeom>
          <a:noFill/>
          <a:ln/>
        </p:spPr>
        <p:txBody>
          <a:bodyPr wrap="none" rtlCol="0" anchor="t"/>
          <a:lstStyle/>
          <a:p>
            <a:pPr marL="0" indent="0">
              <a:lnSpc>
                <a:spcPts val="2238"/>
              </a:lnSpc>
              <a:buNone/>
            </a:pPr>
            <a:r>
              <a:rPr lang="en-US" sz="1791" b="1" dirty="0">
                <a:solidFill>
                  <a:srgbClr val="3B3535"/>
                </a:solidFill>
                <a:latin typeface="Alexandria" pitchFamily="34" charset="0"/>
                <a:ea typeface="Alexandria" pitchFamily="34" charset="-122"/>
                <a:cs typeface="Alexandria" pitchFamily="34" charset="-120"/>
              </a:rPr>
              <a:t>Impact</a:t>
            </a:r>
            <a:endParaRPr lang="en-US" sz="1791" dirty="0"/>
          </a:p>
        </p:txBody>
      </p:sp>
      <p:sp>
        <p:nvSpPr>
          <p:cNvPr id="21" name="Text 18"/>
          <p:cNvSpPr/>
          <p:nvPr/>
        </p:nvSpPr>
        <p:spPr>
          <a:xfrm>
            <a:off x="6652736" y="7207329"/>
            <a:ext cx="7372826" cy="829747"/>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By providing a user-friendly and secure digital platform, the application aims to empower customers, enhance financial literacy, and drive economic growth within Sri Lanka.</a:t>
            </a:r>
            <a:endParaRPr lang="en-US" sz="136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229600"/>
          </a:xfrm>
          <a:prstGeom prst="rect">
            <a:avLst/>
          </a:prstGeom>
          <a:solidFill>
            <a:srgbClr val="FFFAFA"/>
          </a:solidFill>
          <a:ln/>
        </p:spPr>
        <p:txBody>
          <a:bodyPr/>
          <a:lstStyle/>
          <a:p>
            <a:endParaRPr lang="en-US"/>
          </a:p>
        </p:txBody>
      </p:sp>
      <p:sp>
        <p:nvSpPr>
          <p:cNvPr id="4" name="Text 2"/>
          <p:cNvSpPr/>
          <p:nvPr/>
        </p:nvSpPr>
        <p:spPr>
          <a:xfrm>
            <a:off x="864037" y="1173956"/>
            <a:ext cx="12902327" cy="1624251"/>
          </a:xfrm>
          <a:prstGeom prst="rect">
            <a:avLst/>
          </a:prstGeom>
          <a:noFill/>
          <a:ln/>
        </p:spPr>
        <p:txBody>
          <a:bodyPr wrap="square" rtlCol="0" anchor="t"/>
          <a:lstStyle/>
          <a:p>
            <a:pPr marL="0" indent="0">
              <a:lnSpc>
                <a:spcPts val="6395"/>
              </a:lnSpc>
              <a:buNone/>
            </a:pPr>
            <a:r>
              <a:rPr lang="en-US" sz="5116" b="1" dirty="0">
                <a:solidFill>
                  <a:srgbClr val="1F1E1E"/>
                </a:solidFill>
                <a:latin typeface="Alexandria" pitchFamily="34" charset="0"/>
                <a:ea typeface="Alexandria" pitchFamily="34" charset="-122"/>
                <a:cs typeface="Alexandria" pitchFamily="34" charset="-120"/>
              </a:rPr>
              <a:t>Application Features: Simplifying Your Financial Life</a:t>
            </a:r>
            <a:endParaRPr lang="en-US" sz="5116" dirty="0"/>
          </a:p>
        </p:txBody>
      </p:sp>
      <p:sp>
        <p:nvSpPr>
          <p:cNvPr id="5" name="Text 3"/>
          <p:cNvSpPr/>
          <p:nvPr/>
        </p:nvSpPr>
        <p:spPr>
          <a:xfrm>
            <a:off x="864037" y="3415308"/>
            <a:ext cx="3248501" cy="406003"/>
          </a:xfrm>
          <a:prstGeom prst="rect">
            <a:avLst/>
          </a:prstGeom>
          <a:noFill/>
          <a:ln/>
        </p:spPr>
        <p:txBody>
          <a:bodyPr wrap="none" rtlCol="0" anchor="t"/>
          <a:lstStyle/>
          <a:p>
            <a:pPr marL="0" indent="0">
              <a:lnSpc>
                <a:spcPts val="3197"/>
              </a:lnSpc>
              <a:buNone/>
            </a:pPr>
            <a:r>
              <a:rPr lang="en-US" sz="2558" b="1" dirty="0">
                <a:solidFill>
                  <a:srgbClr val="1F1E1E"/>
                </a:solidFill>
                <a:latin typeface="Alexandria" pitchFamily="34" charset="0"/>
                <a:ea typeface="Alexandria" pitchFamily="34" charset="-122"/>
                <a:cs typeface="Alexandria" pitchFamily="34" charset="-120"/>
              </a:rPr>
              <a:t>Online Banking</a:t>
            </a:r>
            <a:endParaRPr lang="en-US" sz="2558" dirty="0"/>
          </a:p>
        </p:txBody>
      </p:sp>
      <p:sp>
        <p:nvSpPr>
          <p:cNvPr id="6" name="Text 4"/>
          <p:cNvSpPr/>
          <p:nvPr/>
        </p:nvSpPr>
        <p:spPr>
          <a:xfrm>
            <a:off x="864037" y="4068128"/>
            <a:ext cx="3898821" cy="2765346"/>
          </a:xfrm>
          <a:prstGeom prst="rect">
            <a:avLst/>
          </a:prstGeom>
          <a:noFill/>
          <a:ln/>
        </p:spPr>
        <p:txBody>
          <a:bodyPr wrap="square" rtlCol="0" anchor="t"/>
          <a:lstStyle/>
          <a:p>
            <a:pPr marL="0" indent="0">
              <a:lnSpc>
                <a:spcPts val="3110"/>
              </a:lnSpc>
              <a:buNone/>
            </a:pPr>
            <a:r>
              <a:rPr lang="en-US" sz="1944" dirty="0">
                <a:solidFill>
                  <a:srgbClr val="3B3535"/>
                </a:solidFill>
                <a:latin typeface="Sora" pitchFamily="34" charset="0"/>
                <a:ea typeface="Sora" pitchFamily="34" charset="-122"/>
                <a:cs typeface="Sora" pitchFamily="34" charset="-120"/>
              </a:rPr>
              <a:t>Seamlessly access and manage your accounts, view transaction history, transfer funds, pay bills, and set up recurring payments, all from the convenience of your device.</a:t>
            </a:r>
            <a:endParaRPr lang="en-US" sz="1944" dirty="0"/>
          </a:p>
        </p:txBody>
      </p:sp>
      <p:sp>
        <p:nvSpPr>
          <p:cNvPr id="7" name="Text 5"/>
          <p:cNvSpPr/>
          <p:nvPr/>
        </p:nvSpPr>
        <p:spPr>
          <a:xfrm>
            <a:off x="5372695" y="3415308"/>
            <a:ext cx="3657957" cy="406003"/>
          </a:xfrm>
          <a:prstGeom prst="rect">
            <a:avLst/>
          </a:prstGeom>
          <a:noFill/>
          <a:ln/>
        </p:spPr>
        <p:txBody>
          <a:bodyPr wrap="none" rtlCol="0" anchor="t"/>
          <a:lstStyle/>
          <a:p>
            <a:pPr marL="0" indent="0">
              <a:lnSpc>
                <a:spcPts val="3197"/>
              </a:lnSpc>
              <a:buNone/>
            </a:pPr>
            <a:r>
              <a:rPr lang="en-US" sz="2558" b="1" dirty="0">
                <a:solidFill>
                  <a:srgbClr val="1F1E1E"/>
                </a:solidFill>
                <a:latin typeface="Alexandria" pitchFamily="34" charset="0"/>
                <a:ea typeface="Alexandria" pitchFamily="34" charset="-122"/>
                <a:cs typeface="Alexandria" pitchFamily="34" charset="-120"/>
              </a:rPr>
              <a:t>Account Management</a:t>
            </a:r>
            <a:endParaRPr lang="en-US" sz="2558" dirty="0"/>
          </a:p>
        </p:txBody>
      </p:sp>
      <p:sp>
        <p:nvSpPr>
          <p:cNvPr id="8" name="Text 6"/>
          <p:cNvSpPr/>
          <p:nvPr/>
        </p:nvSpPr>
        <p:spPr>
          <a:xfrm>
            <a:off x="5372695" y="4068128"/>
            <a:ext cx="3898821" cy="2370296"/>
          </a:xfrm>
          <a:prstGeom prst="rect">
            <a:avLst/>
          </a:prstGeom>
          <a:noFill/>
          <a:ln/>
        </p:spPr>
        <p:txBody>
          <a:bodyPr wrap="square" rtlCol="0" anchor="t"/>
          <a:lstStyle/>
          <a:p>
            <a:pPr marL="0" indent="0">
              <a:lnSpc>
                <a:spcPts val="3110"/>
              </a:lnSpc>
              <a:buNone/>
            </a:pPr>
            <a:r>
              <a:rPr lang="en-US" sz="1944" dirty="0">
                <a:solidFill>
                  <a:srgbClr val="3B3535"/>
                </a:solidFill>
                <a:latin typeface="Sora" pitchFamily="34" charset="0"/>
                <a:ea typeface="Sora" pitchFamily="34" charset="-122"/>
                <a:cs typeface="Sora" pitchFamily="34" charset="-120"/>
              </a:rPr>
              <a:t>Effortlessly manage multiple accounts, including savings, checking, and loans, with clear account summaries, detailed transaction records, and customizable settings.</a:t>
            </a:r>
            <a:endParaRPr lang="en-US" sz="1944" dirty="0"/>
          </a:p>
        </p:txBody>
      </p:sp>
      <p:sp>
        <p:nvSpPr>
          <p:cNvPr id="9" name="Text 7"/>
          <p:cNvSpPr/>
          <p:nvPr/>
        </p:nvSpPr>
        <p:spPr>
          <a:xfrm>
            <a:off x="9881354" y="3415308"/>
            <a:ext cx="3248501" cy="406003"/>
          </a:xfrm>
          <a:prstGeom prst="rect">
            <a:avLst/>
          </a:prstGeom>
          <a:noFill/>
          <a:ln/>
        </p:spPr>
        <p:txBody>
          <a:bodyPr wrap="none" rtlCol="0" anchor="t"/>
          <a:lstStyle/>
          <a:p>
            <a:pPr marL="0" indent="0">
              <a:lnSpc>
                <a:spcPts val="3197"/>
              </a:lnSpc>
              <a:buNone/>
            </a:pPr>
            <a:r>
              <a:rPr lang="en-US" sz="2558" b="1" dirty="0">
                <a:solidFill>
                  <a:srgbClr val="1F1E1E"/>
                </a:solidFill>
                <a:latin typeface="Alexandria" pitchFamily="34" charset="0"/>
                <a:ea typeface="Alexandria" pitchFamily="34" charset="-122"/>
                <a:cs typeface="Alexandria" pitchFamily="34" charset="-120"/>
              </a:rPr>
              <a:t>Loan Services</a:t>
            </a:r>
            <a:endParaRPr lang="en-US" sz="2558" dirty="0"/>
          </a:p>
        </p:txBody>
      </p:sp>
      <p:sp>
        <p:nvSpPr>
          <p:cNvPr id="10" name="Text 8"/>
          <p:cNvSpPr/>
          <p:nvPr/>
        </p:nvSpPr>
        <p:spPr>
          <a:xfrm>
            <a:off x="9881354" y="4068128"/>
            <a:ext cx="3898821" cy="2370296"/>
          </a:xfrm>
          <a:prstGeom prst="rect">
            <a:avLst/>
          </a:prstGeom>
          <a:noFill/>
          <a:ln/>
        </p:spPr>
        <p:txBody>
          <a:bodyPr wrap="square" rtlCol="0" anchor="t"/>
          <a:lstStyle/>
          <a:p>
            <a:pPr marL="0" indent="0">
              <a:lnSpc>
                <a:spcPts val="3110"/>
              </a:lnSpc>
              <a:buNone/>
            </a:pPr>
            <a:r>
              <a:rPr lang="en-US" sz="1944" dirty="0">
                <a:solidFill>
                  <a:srgbClr val="3B3535"/>
                </a:solidFill>
                <a:latin typeface="Sora" pitchFamily="34" charset="0"/>
                <a:ea typeface="Sora" pitchFamily="34" charset="-122"/>
                <a:cs typeface="Sora" pitchFamily="34" charset="-120"/>
              </a:rPr>
              <a:t>Apply for various types of loans online, including personal loans, home loans, and business loans, with personalized loan calculators and easy-to-understand terms.</a:t>
            </a:r>
            <a:endParaRPr lang="en-US" sz="19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229600"/>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091238" y="615077"/>
            <a:ext cx="7934325" cy="1705570"/>
          </a:xfrm>
          <a:prstGeom prst="rect">
            <a:avLst/>
          </a:prstGeom>
          <a:noFill/>
          <a:ln/>
        </p:spPr>
        <p:txBody>
          <a:bodyPr wrap="square" rtlCol="0" anchor="t"/>
          <a:lstStyle/>
          <a:p>
            <a:pPr marL="0" indent="0">
              <a:lnSpc>
                <a:spcPts val="4476"/>
              </a:lnSpc>
              <a:buNone/>
            </a:pPr>
            <a:r>
              <a:rPr lang="en-US" sz="3581" b="1" dirty="0">
                <a:solidFill>
                  <a:srgbClr val="1F1E1E"/>
                </a:solidFill>
                <a:latin typeface="Alexandria" pitchFamily="34" charset="0"/>
                <a:ea typeface="Alexandria" pitchFamily="34" charset="-122"/>
                <a:cs typeface="Alexandria" pitchFamily="34" charset="-120"/>
              </a:rPr>
              <a:t>Design and User Experience: A Focus on Simplicity and Accessibility</a:t>
            </a:r>
            <a:endParaRPr lang="en-US" sz="3581" dirty="0"/>
          </a:p>
        </p:txBody>
      </p:sp>
      <p:sp>
        <p:nvSpPr>
          <p:cNvPr id="6" name="Shape 3"/>
          <p:cNvSpPr/>
          <p:nvPr/>
        </p:nvSpPr>
        <p:spPr>
          <a:xfrm>
            <a:off x="6339007" y="2579846"/>
            <a:ext cx="22860" cy="5034677"/>
          </a:xfrm>
          <a:prstGeom prst="roundRect">
            <a:avLst>
              <a:gd name="adj" fmla="val 317520"/>
            </a:avLst>
          </a:prstGeom>
          <a:solidFill>
            <a:srgbClr val="BBC2DC"/>
          </a:solidFill>
          <a:ln/>
        </p:spPr>
        <p:txBody>
          <a:bodyPr/>
          <a:lstStyle/>
          <a:p>
            <a:endParaRPr lang="en-US"/>
          </a:p>
        </p:txBody>
      </p:sp>
      <p:sp>
        <p:nvSpPr>
          <p:cNvPr id="7" name="Shape 4"/>
          <p:cNvSpPr/>
          <p:nvPr/>
        </p:nvSpPr>
        <p:spPr>
          <a:xfrm>
            <a:off x="6521946" y="2957036"/>
            <a:ext cx="604837" cy="22860"/>
          </a:xfrm>
          <a:prstGeom prst="roundRect">
            <a:avLst>
              <a:gd name="adj" fmla="val 317520"/>
            </a:avLst>
          </a:prstGeom>
          <a:solidFill>
            <a:srgbClr val="BBC2DC"/>
          </a:solidFill>
          <a:ln/>
        </p:spPr>
        <p:txBody>
          <a:bodyPr/>
          <a:lstStyle/>
          <a:p>
            <a:endParaRPr lang="en-US"/>
          </a:p>
        </p:txBody>
      </p:sp>
      <p:sp>
        <p:nvSpPr>
          <p:cNvPr id="8" name="Shape 5"/>
          <p:cNvSpPr/>
          <p:nvPr/>
        </p:nvSpPr>
        <p:spPr>
          <a:xfrm>
            <a:off x="6156067" y="2774156"/>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9" name="Text 6"/>
          <p:cNvSpPr/>
          <p:nvPr/>
        </p:nvSpPr>
        <p:spPr>
          <a:xfrm>
            <a:off x="6296799" y="2832021"/>
            <a:ext cx="107275"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1</a:t>
            </a:r>
            <a:endParaRPr lang="en-US" sz="2149" dirty="0"/>
          </a:p>
        </p:txBody>
      </p:sp>
      <p:sp>
        <p:nvSpPr>
          <p:cNvPr id="10" name="Text 7"/>
          <p:cNvSpPr/>
          <p:nvPr/>
        </p:nvSpPr>
        <p:spPr>
          <a:xfrm>
            <a:off x="7300913" y="2752606"/>
            <a:ext cx="2512576" cy="284202"/>
          </a:xfrm>
          <a:prstGeom prst="rect">
            <a:avLst/>
          </a:prstGeom>
          <a:noFill/>
          <a:ln/>
        </p:spPr>
        <p:txBody>
          <a:bodyPr wrap="none" rtlCol="0" anchor="t"/>
          <a:lstStyle/>
          <a:p>
            <a:pPr marL="0" indent="0" algn="l">
              <a:lnSpc>
                <a:spcPts val="2238"/>
              </a:lnSpc>
              <a:buNone/>
            </a:pPr>
            <a:r>
              <a:rPr lang="en-US" sz="1791" b="1" dirty="0">
                <a:solidFill>
                  <a:srgbClr val="3B3535"/>
                </a:solidFill>
                <a:latin typeface="Alexandria" pitchFamily="34" charset="0"/>
                <a:ea typeface="Alexandria" pitchFamily="34" charset="-122"/>
                <a:cs typeface="Alexandria" pitchFamily="34" charset="-120"/>
              </a:rPr>
              <a:t>User-Centered Design</a:t>
            </a:r>
            <a:endParaRPr lang="en-US" sz="1791" dirty="0"/>
          </a:p>
        </p:txBody>
      </p:sp>
      <p:sp>
        <p:nvSpPr>
          <p:cNvPr id="11" name="Text 8"/>
          <p:cNvSpPr/>
          <p:nvPr/>
        </p:nvSpPr>
        <p:spPr>
          <a:xfrm>
            <a:off x="7300913" y="3140393"/>
            <a:ext cx="6724650" cy="829747"/>
          </a:xfrm>
          <a:prstGeom prst="rect">
            <a:avLst/>
          </a:prstGeom>
          <a:noFill/>
          <a:ln/>
        </p:spPr>
        <p:txBody>
          <a:bodyPr wrap="square" rtlCol="0" anchor="t"/>
          <a:lstStyle/>
          <a:p>
            <a:pPr marL="0" indent="0" algn="l">
              <a:lnSpc>
                <a:spcPts val="2177"/>
              </a:lnSpc>
              <a:buNone/>
            </a:pPr>
            <a:r>
              <a:rPr lang="en-US" sz="1361" dirty="0">
                <a:solidFill>
                  <a:srgbClr val="3B3535"/>
                </a:solidFill>
                <a:latin typeface="Sora" pitchFamily="34" charset="0"/>
                <a:ea typeface="Sora" pitchFamily="34" charset="-122"/>
                <a:cs typeface="Sora" pitchFamily="34" charset="-120"/>
              </a:rPr>
              <a:t>The application's design prioritizes user needs, focusing on simplicity, intuitive navigation, and clear visual hierarchy to ensure an easy and enjoyable user experience.</a:t>
            </a:r>
            <a:endParaRPr lang="en-US" sz="1361" dirty="0"/>
          </a:p>
        </p:txBody>
      </p:sp>
      <p:sp>
        <p:nvSpPr>
          <p:cNvPr id="12" name="Shape 9"/>
          <p:cNvSpPr/>
          <p:nvPr/>
        </p:nvSpPr>
        <p:spPr>
          <a:xfrm>
            <a:off x="6521946" y="4692848"/>
            <a:ext cx="604837" cy="22860"/>
          </a:xfrm>
          <a:prstGeom prst="roundRect">
            <a:avLst>
              <a:gd name="adj" fmla="val 317520"/>
            </a:avLst>
          </a:prstGeom>
          <a:solidFill>
            <a:srgbClr val="BBC2DC"/>
          </a:solidFill>
          <a:ln/>
        </p:spPr>
        <p:txBody>
          <a:bodyPr/>
          <a:lstStyle/>
          <a:p>
            <a:endParaRPr lang="en-US"/>
          </a:p>
        </p:txBody>
      </p:sp>
      <p:sp>
        <p:nvSpPr>
          <p:cNvPr id="13" name="Shape 10"/>
          <p:cNvSpPr/>
          <p:nvPr/>
        </p:nvSpPr>
        <p:spPr>
          <a:xfrm>
            <a:off x="6156067" y="4509968"/>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14" name="Text 11"/>
          <p:cNvSpPr/>
          <p:nvPr/>
        </p:nvSpPr>
        <p:spPr>
          <a:xfrm>
            <a:off x="6268938" y="4567833"/>
            <a:ext cx="162878"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2</a:t>
            </a:r>
            <a:endParaRPr lang="en-US" sz="2149" dirty="0"/>
          </a:p>
        </p:txBody>
      </p:sp>
      <p:sp>
        <p:nvSpPr>
          <p:cNvPr id="15" name="Text 12"/>
          <p:cNvSpPr/>
          <p:nvPr/>
        </p:nvSpPr>
        <p:spPr>
          <a:xfrm>
            <a:off x="7300913" y="4488418"/>
            <a:ext cx="3031212" cy="284202"/>
          </a:xfrm>
          <a:prstGeom prst="rect">
            <a:avLst/>
          </a:prstGeom>
          <a:noFill/>
          <a:ln/>
        </p:spPr>
        <p:txBody>
          <a:bodyPr wrap="none" rtlCol="0" anchor="t"/>
          <a:lstStyle/>
          <a:p>
            <a:pPr marL="0" indent="0" algn="l">
              <a:lnSpc>
                <a:spcPts val="2238"/>
              </a:lnSpc>
              <a:buNone/>
            </a:pPr>
            <a:r>
              <a:rPr lang="en-US" sz="1791" b="1" dirty="0">
                <a:solidFill>
                  <a:srgbClr val="3B3535"/>
                </a:solidFill>
                <a:latin typeface="Alexandria" pitchFamily="34" charset="0"/>
                <a:ea typeface="Alexandria" pitchFamily="34" charset="-122"/>
                <a:cs typeface="Alexandria" pitchFamily="34" charset="-120"/>
              </a:rPr>
              <a:t>Mobile-Responsive Design</a:t>
            </a:r>
            <a:endParaRPr lang="en-US" sz="1791" dirty="0"/>
          </a:p>
        </p:txBody>
      </p:sp>
      <p:sp>
        <p:nvSpPr>
          <p:cNvPr id="16" name="Text 13"/>
          <p:cNvSpPr/>
          <p:nvPr/>
        </p:nvSpPr>
        <p:spPr>
          <a:xfrm>
            <a:off x="7300913" y="4876205"/>
            <a:ext cx="6724650" cy="829747"/>
          </a:xfrm>
          <a:prstGeom prst="rect">
            <a:avLst/>
          </a:prstGeom>
          <a:noFill/>
          <a:ln/>
        </p:spPr>
        <p:txBody>
          <a:bodyPr wrap="square" rtlCol="0" anchor="t"/>
          <a:lstStyle/>
          <a:p>
            <a:pPr marL="0" indent="0" algn="l">
              <a:lnSpc>
                <a:spcPts val="2177"/>
              </a:lnSpc>
              <a:buNone/>
            </a:pPr>
            <a:r>
              <a:rPr lang="en-US" sz="1361" dirty="0">
                <a:solidFill>
                  <a:srgbClr val="3B3535"/>
                </a:solidFill>
                <a:latin typeface="Sora" pitchFamily="34" charset="0"/>
                <a:ea typeface="Sora" pitchFamily="34" charset="-122"/>
                <a:cs typeface="Sora" pitchFamily="34" charset="-120"/>
              </a:rPr>
              <a:t>The application is fully responsive, adapting seamlessly to different screen sizes and devices, ensuring a consistent and optimal user experience across desktops, tablets, and smartphones.</a:t>
            </a:r>
            <a:endParaRPr lang="en-US" sz="1361" dirty="0"/>
          </a:p>
        </p:txBody>
      </p:sp>
      <p:sp>
        <p:nvSpPr>
          <p:cNvPr id="17" name="Shape 14"/>
          <p:cNvSpPr/>
          <p:nvPr/>
        </p:nvSpPr>
        <p:spPr>
          <a:xfrm>
            <a:off x="6521946" y="6428661"/>
            <a:ext cx="604837" cy="22860"/>
          </a:xfrm>
          <a:prstGeom prst="roundRect">
            <a:avLst>
              <a:gd name="adj" fmla="val 317520"/>
            </a:avLst>
          </a:prstGeom>
          <a:solidFill>
            <a:srgbClr val="BBC2DC"/>
          </a:solidFill>
          <a:ln/>
        </p:spPr>
        <p:txBody>
          <a:bodyPr/>
          <a:lstStyle/>
          <a:p>
            <a:endParaRPr lang="en-US"/>
          </a:p>
        </p:txBody>
      </p:sp>
      <p:sp>
        <p:nvSpPr>
          <p:cNvPr id="18" name="Shape 15"/>
          <p:cNvSpPr/>
          <p:nvPr/>
        </p:nvSpPr>
        <p:spPr>
          <a:xfrm>
            <a:off x="6156067" y="6245781"/>
            <a:ext cx="388739" cy="388739"/>
          </a:xfrm>
          <a:prstGeom prst="roundRect">
            <a:avLst>
              <a:gd name="adj" fmla="val 18672"/>
            </a:avLst>
          </a:prstGeom>
          <a:solidFill>
            <a:srgbClr val="D5DCF6"/>
          </a:solidFill>
          <a:ln w="7620">
            <a:solidFill>
              <a:srgbClr val="BBC2DC"/>
            </a:solidFill>
            <a:prstDash val="solid"/>
          </a:ln>
        </p:spPr>
        <p:txBody>
          <a:bodyPr/>
          <a:lstStyle/>
          <a:p>
            <a:endParaRPr lang="en-US"/>
          </a:p>
        </p:txBody>
      </p:sp>
      <p:sp>
        <p:nvSpPr>
          <p:cNvPr id="19" name="Text 16"/>
          <p:cNvSpPr/>
          <p:nvPr/>
        </p:nvSpPr>
        <p:spPr>
          <a:xfrm>
            <a:off x="6268819" y="6303645"/>
            <a:ext cx="163235" cy="272891"/>
          </a:xfrm>
          <a:prstGeom prst="rect">
            <a:avLst/>
          </a:prstGeom>
          <a:noFill/>
          <a:ln/>
        </p:spPr>
        <p:txBody>
          <a:bodyPr wrap="none" rtlCol="0" anchor="t"/>
          <a:lstStyle/>
          <a:p>
            <a:pPr marL="0" indent="0" algn="ctr">
              <a:lnSpc>
                <a:spcPts val="2149"/>
              </a:lnSpc>
              <a:buNone/>
            </a:pPr>
            <a:r>
              <a:rPr lang="en-US" sz="2149" b="1" dirty="0">
                <a:solidFill>
                  <a:srgbClr val="3B3535"/>
                </a:solidFill>
                <a:latin typeface="Alexandria" pitchFamily="34" charset="0"/>
                <a:ea typeface="Alexandria" pitchFamily="34" charset="-122"/>
                <a:cs typeface="Alexandria" pitchFamily="34" charset="-120"/>
              </a:rPr>
              <a:t>3</a:t>
            </a:r>
            <a:endParaRPr lang="en-US" sz="2149" dirty="0"/>
          </a:p>
        </p:txBody>
      </p:sp>
      <p:sp>
        <p:nvSpPr>
          <p:cNvPr id="20" name="Text 17"/>
          <p:cNvSpPr/>
          <p:nvPr/>
        </p:nvSpPr>
        <p:spPr>
          <a:xfrm>
            <a:off x="7300913" y="6224230"/>
            <a:ext cx="2493645" cy="284202"/>
          </a:xfrm>
          <a:prstGeom prst="rect">
            <a:avLst/>
          </a:prstGeom>
          <a:noFill/>
          <a:ln/>
        </p:spPr>
        <p:txBody>
          <a:bodyPr wrap="none" rtlCol="0" anchor="t"/>
          <a:lstStyle/>
          <a:p>
            <a:pPr marL="0" indent="0" algn="l">
              <a:lnSpc>
                <a:spcPts val="2238"/>
              </a:lnSpc>
              <a:buNone/>
            </a:pPr>
            <a:r>
              <a:rPr lang="en-US" sz="1791" b="1" dirty="0">
                <a:solidFill>
                  <a:srgbClr val="3B3535"/>
                </a:solidFill>
                <a:latin typeface="Alexandria" pitchFamily="34" charset="0"/>
                <a:ea typeface="Alexandria" pitchFamily="34" charset="-122"/>
                <a:cs typeface="Alexandria" pitchFamily="34" charset="-120"/>
              </a:rPr>
              <a:t>Accessibility Features</a:t>
            </a:r>
            <a:endParaRPr lang="en-US" sz="1791" dirty="0"/>
          </a:p>
        </p:txBody>
      </p:sp>
      <p:sp>
        <p:nvSpPr>
          <p:cNvPr id="21" name="Text 18"/>
          <p:cNvSpPr/>
          <p:nvPr/>
        </p:nvSpPr>
        <p:spPr>
          <a:xfrm>
            <a:off x="7300913" y="6612017"/>
            <a:ext cx="6724650" cy="829747"/>
          </a:xfrm>
          <a:prstGeom prst="rect">
            <a:avLst/>
          </a:prstGeom>
          <a:noFill/>
          <a:ln/>
        </p:spPr>
        <p:txBody>
          <a:bodyPr wrap="square" rtlCol="0" anchor="t"/>
          <a:lstStyle/>
          <a:p>
            <a:pPr marL="0" indent="0" algn="l">
              <a:lnSpc>
                <a:spcPts val="2177"/>
              </a:lnSpc>
              <a:buNone/>
            </a:pPr>
            <a:r>
              <a:rPr lang="en-US" sz="1361" dirty="0">
                <a:solidFill>
                  <a:srgbClr val="3B3535"/>
                </a:solidFill>
                <a:latin typeface="Sora" pitchFamily="34" charset="0"/>
                <a:ea typeface="Sora" pitchFamily="34" charset="-122"/>
                <a:cs typeface="Sora" pitchFamily="34" charset="-120"/>
              </a:rPr>
              <a:t>The application incorporates accessibility features, such as screen reader compatibility, adjustable font sizes, and high-contrast themes, to cater to diverse user needs and ensure inclusivity.</a:t>
            </a:r>
            <a:endParaRPr lang="en-US" sz="136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9005530"/>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5486400" cy="9005530"/>
          </a:xfrm>
          <a:prstGeom prst="rect">
            <a:avLst/>
          </a:prstGeom>
        </p:spPr>
      </p:pic>
      <p:sp>
        <p:nvSpPr>
          <p:cNvPr id="5" name="Text 2"/>
          <p:cNvSpPr/>
          <p:nvPr/>
        </p:nvSpPr>
        <p:spPr>
          <a:xfrm>
            <a:off x="6091238" y="475178"/>
            <a:ext cx="7934325" cy="1137047"/>
          </a:xfrm>
          <a:prstGeom prst="rect">
            <a:avLst/>
          </a:prstGeom>
          <a:noFill/>
          <a:ln/>
        </p:spPr>
        <p:txBody>
          <a:bodyPr wrap="square" rtlCol="0" anchor="t"/>
          <a:lstStyle/>
          <a:p>
            <a:pPr marL="0" indent="0">
              <a:lnSpc>
                <a:spcPts val="4476"/>
              </a:lnSpc>
              <a:buNone/>
            </a:pPr>
            <a:r>
              <a:rPr lang="en-US" sz="3581" b="1" dirty="0">
                <a:solidFill>
                  <a:srgbClr val="1F1E1E"/>
                </a:solidFill>
                <a:latin typeface="Alexandria" pitchFamily="34" charset="0"/>
                <a:ea typeface="Alexandria" pitchFamily="34" charset="-122"/>
                <a:cs typeface="Alexandria" pitchFamily="34" charset="-120"/>
              </a:rPr>
              <a:t>Technology Stack: Building a Robust and Secure Platform</a:t>
            </a:r>
            <a:endParaRPr lang="en-US" sz="3581" dirty="0"/>
          </a:p>
        </p:txBody>
      </p:sp>
      <p:sp>
        <p:nvSpPr>
          <p:cNvPr id="6" name="Shape 3"/>
          <p:cNvSpPr/>
          <p:nvPr/>
        </p:nvSpPr>
        <p:spPr>
          <a:xfrm>
            <a:off x="6091238" y="1871424"/>
            <a:ext cx="7934325" cy="6658928"/>
          </a:xfrm>
          <a:prstGeom prst="roundRect">
            <a:avLst>
              <a:gd name="adj" fmla="val 1090"/>
            </a:avLst>
          </a:prstGeom>
          <a:noFill/>
          <a:ln w="7620">
            <a:solidFill>
              <a:srgbClr val="000000">
                <a:alpha val="8000"/>
              </a:srgbClr>
            </a:solidFill>
            <a:prstDash val="solid"/>
          </a:ln>
        </p:spPr>
        <p:txBody>
          <a:bodyPr/>
          <a:lstStyle/>
          <a:p>
            <a:endParaRPr lang="en-US"/>
          </a:p>
        </p:txBody>
      </p:sp>
      <p:sp>
        <p:nvSpPr>
          <p:cNvPr id="7" name="Shape 4"/>
          <p:cNvSpPr/>
          <p:nvPr/>
        </p:nvSpPr>
        <p:spPr>
          <a:xfrm>
            <a:off x="6098857" y="1879044"/>
            <a:ext cx="7918252" cy="498991"/>
          </a:xfrm>
          <a:prstGeom prst="rect">
            <a:avLst/>
          </a:prstGeom>
          <a:solidFill>
            <a:srgbClr val="FFFFFF">
              <a:alpha val="4000"/>
            </a:srgbClr>
          </a:solidFill>
          <a:ln/>
        </p:spPr>
        <p:txBody>
          <a:bodyPr/>
          <a:lstStyle/>
          <a:p>
            <a:endParaRPr lang="en-US"/>
          </a:p>
        </p:txBody>
      </p:sp>
      <p:sp>
        <p:nvSpPr>
          <p:cNvPr id="8" name="Text 5"/>
          <p:cNvSpPr/>
          <p:nvPr/>
        </p:nvSpPr>
        <p:spPr>
          <a:xfrm>
            <a:off x="6272451" y="1990249"/>
            <a:ext cx="228981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Component</a:t>
            </a:r>
            <a:endParaRPr lang="en-US" sz="1361" dirty="0"/>
          </a:p>
        </p:txBody>
      </p:sp>
      <p:sp>
        <p:nvSpPr>
          <p:cNvPr id="9" name="Text 6"/>
          <p:cNvSpPr/>
          <p:nvPr/>
        </p:nvSpPr>
        <p:spPr>
          <a:xfrm>
            <a:off x="8915400" y="1990249"/>
            <a:ext cx="228600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Technology</a:t>
            </a:r>
            <a:endParaRPr lang="en-US" sz="1361" dirty="0"/>
          </a:p>
        </p:txBody>
      </p:sp>
      <p:sp>
        <p:nvSpPr>
          <p:cNvPr id="10" name="Text 7"/>
          <p:cNvSpPr/>
          <p:nvPr/>
        </p:nvSpPr>
        <p:spPr>
          <a:xfrm>
            <a:off x="11554539" y="1990249"/>
            <a:ext cx="228981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Purpose</a:t>
            </a:r>
            <a:endParaRPr lang="en-US" sz="1361" dirty="0"/>
          </a:p>
        </p:txBody>
      </p:sp>
      <p:sp>
        <p:nvSpPr>
          <p:cNvPr id="11" name="Shape 8"/>
          <p:cNvSpPr/>
          <p:nvPr/>
        </p:nvSpPr>
        <p:spPr>
          <a:xfrm>
            <a:off x="6098857" y="2378035"/>
            <a:ext cx="7918252" cy="1328737"/>
          </a:xfrm>
          <a:prstGeom prst="rect">
            <a:avLst/>
          </a:prstGeom>
          <a:solidFill>
            <a:srgbClr val="000000">
              <a:alpha val="4000"/>
            </a:srgbClr>
          </a:solidFill>
          <a:ln/>
        </p:spPr>
        <p:txBody>
          <a:bodyPr/>
          <a:lstStyle/>
          <a:p>
            <a:endParaRPr lang="en-US"/>
          </a:p>
        </p:txBody>
      </p:sp>
      <p:sp>
        <p:nvSpPr>
          <p:cNvPr id="12" name="Text 9"/>
          <p:cNvSpPr/>
          <p:nvPr/>
        </p:nvSpPr>
        <p:spPr>
          <a:xfrm>
            <a:off x="6272451" y="2489240"/>
            <a:ext cx="228981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Frontend</a:t>
            </a:r>
            <a:endParaRPr lang="en-US" sz="1361" dirty="0"/>
          </a:p>
        </p:txBody>
      </p:sp>
      <p:sp>
        <p:nvSpPr>
          <p:cNvPr id="13" name="Text 10"/>
          <p:cNvSpPr/>
          <p:nvPr/>
        </p:nvSpPr>
        <p:spPr>
          <a:xfrm>
            <a:off x="8915400" y="2489240"/>
            <a:ext cx="228600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React</a:t>
            </a:r>
            <a:endParaRPr lang="en-US" sz="1361" dirty="0"/>
          </a:p>
        </p:txBody>
      </p:sp>
      <p:sp>
        <p:nvSpPr>
          <p:cNvPr id="14" name="Text 11"/>
          <p:cNvSpPr/>
          <p:nvPr/>
        </p:nvSpPr>
        <p:spPr>
          <a:xfrm>
            <a:off x="11554539" y="2489240"/>
            <a:ext cx="2289810" cy="1106329"/>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Develops the user interface and provides a dynamic and interactive experience.</a:t>
            </a:r>
            <a:endParaRPr lang="en-US" sz="1361" dirty="0"/>
          </a:p>
        </p:txBody>
      </p:sp>
      <p:sp>
        <p:nvSpPr>
          <p:cNvPr id="15" name="Shape 12"/>
          <p:cNvSpPr/>
          <p:nvPr/>
        </p:nvSpPr>
        <p:spPr>
          <a:xfrm>
            <a:off x="6098857" y="3706773"/>
            <a:ext cx="7918252" cy="1605320"/>
          </a:xfrm>
          <a:prstGeom prst="rect">
            <a:avLst/>
          </a:prstGeom>
          <a:solidFill>
            <a:srgbClr val="FFFFFF">
              <a:alpha val="4000"/>
            </a:srgbClr>
          </a:solidFill>
          <a:ln/>
        </p:spPr>
        <p:txBody>
          <a:bodyPr/>
          <a:lstStyle/>
          <a:p>
            <a:endParaRPr lang="en-US" dirty="0"/>
          </a:p>
        </p:txBody>
      </p:sp>
      <p:sp>
        <p:nvSpPr>
          <p:cNvPr id="16" name="Text 13"/>
          <p:cNvSpPr/>
          <p:nvPr/>
        </p:nvSpPr>
        <p:spPr>
          <a:xfrm>
            <a:off x="6272451" y="3817977"/>
            <a:ext cx="228981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Backend</a:t>
            </a:r>
            <a:endParaRPr lang="en-US" sz="1361" dirty="0"/>
          </a:p>
        </p:txBody>
      </p:sp>
      <p:sp>
        <p:nvSpPr>
          <p:cNvPr id="17" name="Text 14"/>
          <p:cNvSpPr/>
          <p:nvPr/>
        </p:nvSpPr>
        <p:spPr>
          <a:xfrm>
            <a:off x="8915400" y="3817977"/>
            <a:ext cx="228600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rPr>
              <a:t>PHP</a:t>
            </a:r>
            <a:endParaRPr lang="en-US" sz="1361" dirty="0"/>
          </a:p>
        </p:txBody>
      </p:sp>
      <p:sp>
        <p:nvSpPr>
          <p:cNvPr id="18" name="Text 15"/>
          <p:cNvSpPr/>
          <p:nvPr/>
        </p:nvSpPr>
        <p:spPr>
          <a:xfrm>
            <a:off x="11554539" y="3817977"/>
            <a:ext cx="2289810" cy="1382911"/>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Handles server-side logic, database interactions, and data processing, ensuring efficient and secure operation.</a:t>
            </a:r>
            <a:endParaRPr lang="en-US" sz="1361" dirty="0"/>
          </a:p>
        </p:txBody>
      </p:sp>
      <p:sp>
        <p:nvSpPr>
          <p:cNvPr id="19" name="Shape 16"/>
          <p:cNvSpPr/>
          <p:nvPr/>
        </p:nvSpPr>
        <p:spPr>
          <a:xfrm>
            <a:off x="6098857" y="5312093"/>
            <a:ext cx="7918252" cy="1605320"/>
          </a:xfrm>
          <a:prstGeom prst="rect">
            <a:avLst/>
          </a:prstGeom>
          <a:solidFill>
            <a:srgbClr val="000000">
              <a:alpha val="4000"/>
            </a:srgbClr>
          </a:solidFill>
          <a:ln/>
        </p:spPr>
        <p:txBody>
          <a:bodyPr/>
          <a:lstStyle/>
          <a:p>
            <a:endParaRPr lang="en-US"/>
          </a:p>
        </p:txBody>
      </p:sp>
      <p:sp>
        <p:nvSpPr>
          <p:cNvPr id="20" name="Text 17"/>
          <p:cNvSpPr/>
          <p:nvPr/>
        </p:nvSpPr>
        <p:spPr>
          <a:xfrm>
            <a:off x="6272451" y="5423297"/>
            <a:ext cx="228981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Database</a:t>
            </a:r>
            <a:endParaRPr lang="en-US" sz="1361" dirty="0"/>
          </a:p>
        </p:txBody>
      </p:sp>
      <p:sp>
        <p:nvSpPr>
          <p:cNvPr id="21" name="Text 18"/>
          <p:cNvSpPr/>
          <p:nvPr/>
        </p:nvSpPr>
        <p:spPr>
          <a:xfrm>
            <a:off x="8915400" y="5423297"/>
            <a:ext cx="228600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MySQL</a:t>
            </a:r>
            <a:endParaRPr lang="en-US" sz="1361" dirty="0"/>
          </a:p>
        </p:txBody>
      </p:sp>
      <p:sp>
        <p:nvSpPr>
          <p:cNvPr id="22" name="Text 19"/>
          <p:cNvSpPr/>
          <p:nvPr/>
        </p:nvSpPr>
        <p:spPr>
          <a:xfrm>
            <a:off x="11554539" y="5423297"/>
            <a:ext cx="2289810" cy="1382911"/>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Stores and manages user data, financial transactions, and application settings securely and efficiently.</a:t>
            </a:r>
            <a:endParaRPr lang="en-US" sz="1361" dirty="0"/>
          </a:p>
        </p:txBody>
      </p:sp>
      <p:sp>
        <p:nvSpPr>
          <p:cNvPr id="23" name="Shape 20"/>
          <p:cNvSpPr/>
          <p:nvPr/>
        </p:nvSpPr>
        <p:spPr>
          <a:xfrm>
            <a:off x="6098857" y="6917412"/>
            <a:ext cx="7918252" cy="1605320"/>
          </a:xfrm>
          <a:prstGeom prst="rect">
            <a:avLst/>
          </a:prstGeom>
          <a:solidFill>
            <a:srgbClr val="FFFFFF">
              <a:alpha val="4000"/>
            </a:srgbClr>
          </a:solidFill>
          <a:ln/>
        </p:spPr>
        <p:txBody>
          <a:bodyPr/>
          <a:lstStyle/>
          <a:p>
            <a:endParaRPr lang="en-US"/>
          </a:p>
        </p:txBody>
      </p:sp>
      <p:sp>
        <p:nvSpPr>
          <p:cNvPr id="24" name="Text 21"/>
          <p:cNvSpPr/>
          <p:nvPr/>
        </p:nvSpPr>
        <p:spPr>
          <a:xfrm>
            <a:off x="6272451" y="7028617"/>
            <a:ext cx="2289810" cy="276582"/>
          </a:xfrm>
          <a:prstGeom prst="rect">
            <a:avLst/>
          </a:prstGeom>
          <a:noFill/>
          <a:ln/>
        </p:spPr>
        <p:txBody>
          <a:bodyPr wrap="non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Security</a:t>
            </a:r>
            <a:endParaRPr lang="en-US" sz="1361" dirty="0"/>
          </a:p>
        </p:txBody>
      </p:sp>
      <p:sp>
        <p:nvSpPr>
          <p:cNvPr id="25" name="Text 22"/>
          <p:cNvSpPr/>
          <p:nvPr/>
        </p:nvSpPr>
        <p:spPr>
          <a:xfrm>
            <a:off x="8915400" y="7028617"/>
            <a:ext cx="2286000" cy="553164"/>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SSL Encryption</a:t>
            </a:r>
            <a:endParaRPr lang="en-US" sz="1361" dirty="0"/>
          </a:p>
        </p:txBody>
      </p:sp>
      <p:sp>
        <p:nvSpPr>
          <p:cNvPr id="26" name="Text 23"/>
          <p:cNvSpPr/>
          <p:nvPr/>
        </p:nvSpPr>
        <p:spPr>
          <a:xfrm>
            <a:off x="11554539" y="7028617"/>
            <a:ext cx="2289810" cy="1382911"/>
          </a:xfrm>
          <a:prstGeom prst="rect">
            <a:avLst/>
          </a:prstGeom>
          <a:noFill/>
          <a:ln/>
        </p:spPr>
        <p:txBody>
          <a:bodyPr wrap="square" rtlCol="0" anchor="t"/>
          <a:lstStyle/>
          <a:p>
            <a:pPr marL="0" indent="0">
              <a:lnSpc>
                <a:spcPts val="2177"/>
              </a:lnSpc>
              <a:buNone/>
            </a:pPr>
            <a:r>
              <a:rPr lang="en-US" sz="1361" dirty="0">
                <a:solidFill>
                  <a:srgbClr val="3B3535"/>
                </a:solidFill>
                <a:latin typeface="Sora" pitchFamily="34" charset="0"/>
                <a:ea typeface="Sora" pitchFamily="34" charset="-122"/>
                <a:cs typeface="Sora" pitchFamily="34" charset="-120"/>
              </a:rPr>
              <a:t>Protects user data and financial transactions with robust security measures, ensuring confidentiality and integrity.</a:t>
            </a:r>
            <a:endParaRPr lang="en-US" sz="136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229600"/>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604837" y="1072039"/>
            <a:ext cx="7934325" cy="1137047"/>
          </a:xfrm>
          <a:prstGeom prst="rect">
            <a:avLst/>
          </a:prstGeom>
          <a:noFill/>
          <a:ln/>
        </p:spPr>
        <p:txBody>
          <a:bodyPr wrap="square" rtlCol="0" anchor="t"/>
          <a:lstStyle/>
          <a:p>
            <a:pPr marL="0" indent="0">
              <a:lnSpc>
                <a:spcPts val="4476"/>
              </a:lnSpc>
              <a:buNone/>
            </a:pPr>
            <a:r>
              <a:rPr lang="en-US" sz="3581" b="1" dirty="0">
                <a:solidFill>
                  <a:srgbClr val="1F1E1E"/>
                </a:solidFill>
                <a:latin typeface="Alexandria" pitchFamily="34" charset="0"/>
                <a:ea typeface="Alexandria" pitchFamily="34" charset="-122"/>
                <a:cs typeface="Alexandria" pitchFamily="34" charset="-120"/>
              </a:rPr>
              <a:t>Development Process: Iterative and Agile Approach</a:t>
            </a:r>
            <a:endParaRPr lang="en-US" sz="3581" dirty="0"/>
          </a:p>
        </p:txBody>
      </p:sp>
      <p:pic>
        <p:nvPicPr>
          <p:cNvPr id="6" name="Image 1" descr="preencoded.png"/>
          <p:cNvPicPr>
            <a:picLocks noChangeAspect="1"/>
          </p:cNvPicPr>
          <p:nvPr/>
        </p:nvPicPr>
        <p:blipFill>
          <a:blip r:embed="rId4"/>
          <a:stretch>
            <a:fillRect/>
          </a:stretch>
        </p:blipFill>
        <p:spPr>
          <a:xfrm>
            <a:off x="604837" y="2468285"/>
            <a:ext cx="864037" cy="1563053"/>
          </a:xfrm>
          <a:prstGeom prst="rect">
            <a:avLst/>
          </a:prstGeom>
        </p:spPr>
      </p:pic>
      <p:sp>
        <p:nvSpPr>
          <p:cNvPr id="7" name="Text 3"/>
          <p:cNvSpPr/>
          <p:nvPr/>
        </p:nvSpPr>
        <p:spPr>
          <a:xfrm>
            <a:off x="1728073" y="2641044"/>
            <a:ext cx="2390418" cy="284202"/>
          </a:xfrm>
          <a:prstGeom prst="rect">
            <a:avLst/>
          </a:prstGeom>
          <a:noFill/>
          <a:ln/>
        </p:spPr>
        <p:txBody>
          <a:bodyPr wrap="none" rtlCol="0" anchor="t"/>
          <a:lstStyle/>
          <a:p>
            <a:pPr marL="0" indent="0" algn="l">
              <a:lnSpc>
                <a:spcPts val="2238"/>
              </a:lnSpc>
              <a:buNone/>
            </a:pPr>
            <a:r>
              <a:rPr lang="en-US" sz="1791" b="1" dirty="0">
                <a:solidFill>
                  <a:srgbClr val="3B3535"/>
                </a:solidFill>
                <a:latin typeface="Alexandria" pitchFamily="34" charset="0"/>
                <a:ea typeface="Alexandria" pitchFamily="34" charset="-122"/>
                <a:cs typeface="Alexandria" pitchFamily="34" charset="-120"/>
              </a:rPr>
              <a:t>Planning and Design</a:t>
            </a:r>
            <a:endParaRPr lang="en-US" sz="1791" dirty="0"/>
          </a:p>
        </p:txBody>
      </p:sp>
      <p:sp>
        <p:nvSpPr>
          <p:cNvPr id="8" name="Text 4"/>
          <p:cNvSpPr/>
          <p:nvPr/>
        </p:nvSpPr>
        <p:spPr>
          <a:xfrm>
            <a:off x="1728073" y="3028831"/>
            <a:ext cx="6811089" cy="829747"/>
          </a:xfrm>
          <a:prstGeom prst="rect">
            <a:avLst/>
          </a:prstGeom>
          <a:noFill/>
          <a:ln/>
        </p:spPr>
        <p:txBody>
          <a:bodyPr wrap="square" rtlCol="0" anchor="t"/>
          <a:lstStyle/>
          <a:p>
            <a:pPr marL="0" indent="0" algn="l">
              <a:lnSpc>
                <a:spcPts val="2177"/>
              </a:lnSpc>
              <a:buNone/>
            </a:pPr>
            <a:r>
              <a:rPr lang="en-US" sz="1361" dirty="0">
                <a:solidFill>
                  <a:srgbClr val="3B3535"/>
                </a:solidFill>
                <a:latin typeface="Sora" pitchFamily="34" charset="0"/>
                <a:ea typeface="Sora" pitchFamily="34" charset="-122"/>
                <a:cs typeface="Sora" pitchFamily="34" charset="-120"/>
              </a:rPr>
              <a:t>A thorough planning phase, involving collaboration with stakeholders and subject matter experts, ensured the application met specific requirements and aligned with the bank's vision.</a:t>
            </a:r>
            <a:endParaRPr lang="en-US" sz="1361" dirty="0"/>
          </a:p>
        </p:txBody>
      </p:sp>
      <p:pic>
        <p:nvPicPr>
          <p:cNvPr id="9" name="Image 2" descr="preencoded.png"/>
          <p:cNvPicPr>
            <a:picLocks noChangeAspect="1"/>
          </p:cNvPicPr>
          <p:nvPr/>
        </p:nvPicPr>
        <p:blipFill>
          <a:blip r:embed="rId5"/>
          <a:stretch>
            <a:fillRect/>
          </a:stretch>
        </p:blipFill>
        <p:spPr>
          <a:xfrm>
            <a:off x="604837" y="4031337"/>
            <a:ext cx="864037" cy="1563053"/>
          </a:xfrm>
          <a:prstGeom prst="rect">
            <a:avLst/>
          </a:prstGeom>
        </p:spPr>
      </p:pic>
      <p:sp>
        <p:nvSpPr>
          <p:cNvPr id="10" name="Text 5"/>
          <p:cNvSpPr/>
          <p:nvPr/>
        </p:nvSpPr>
        <p:spPr>
          <a:xfrm>
            <a:off x="1728073" y="4204097"/>
            <a:ext cx="2273856" cy="284202"/>
          </a:xfrm>
          <a:prstGeom prst="rect">
            <a:avLst/>
          </a:prstGeom>
          <a:noFill/>
          <a:ln/>
        </p:spPr>
        <p:txBody>
          <a:bodyPr wrap="none" rtlCol="0" anchor="t"/>
          <a:lstStyle/>
          <a:p>
            <a:pPr marL="0" indent="0" algn="l">
              <a:lnSpc>
                <a:spcPts val="2238"/>
              </a:lnSpc>
              <a:buNone/>
            </a:pPr>
            <a:r>
              <a:rPr lang="en-US" sz="1791" b="1" dirty="0">
                <a:solidFill>
                  <a:srgbClr val="3B3535"/>
                </a:solidFill>
                <a:latin typeface="Alexandria" pitchFamily="34" charset="0"/>
                <a:ea typeface="Alexandria" pitchFamily="34" charset="-122"/>
                <a:cs typeface="Alexandria" pitchFamily="34" charset="-120"/>
              </a:rPr>
              <a:t>Development</a:t>
            </a:r>
            <a:endParaRPr lang="en-US" sz="1791" dirty="0"/>
          </a:p>
        </p:txBody>
      </p:sp>
      <p:sp>
        <p:nvSpPr>
          <p:cNvPr id="11" name="Text 6"/>
          <p:cNvSpPr/>
          <p:nvPr/>
        </p:nvSpPr>
        <p:spPr>
          <a:xfrm>
            <a:off x="1728073" y="4591883"/>
            <a:ext cx="6811089" cy="829747"/>
          </a:xfrm>
          <a:prstGeom prst="rect">
            <a:avLst/>
          </a:prstGeom>
          <a:noFill/>
          <a:ln/>
        </p:spPr>
        <p:txBody>
          <a:bodyPr wrap="square" rtlCol="0" anchor="t"/>
          <a:lstStyle/>
          <a:p>
            <a:pPr marL="0" indent="0" algn="l">
              <a:lnSpc>
                <a:spcPts val="2177"/>
              </a:lnSpc>
              <a:buNone/>
            </a:pPr>
            <a:r>
              <a:rPr lang="en-US" sz="1361" dirty="0">
                <a:solidFill>
                  <a:srgbClr val="3B3535"/>
                </a:solidFill>
                <a:latin typeface="Sora" pitchFamily="34" charset="0"/>
                <a:ea typeface="Sora" pitchFamily="34" charset="-122"/>
                <a:cs typeface="Sora" pitchFamily="34" charset="-120"/>
              </a:rPr>
              <a:t>The application was developed using an iterative and agile approach, with continuous feedback loops and regular updates to ensure a high-quality and user-friendly product.</a:t>
            </a:r>
            <a:endParaRPr lang="en-US" sz="1361" dirty="0"/>
          </a:p>
        </p:txBody>
      </p:sp>
      <p:pic>
        <p:nvPicPr>
          <p:cNvPr id="12" name="Image 3" descr="preencoded.png"/>
          <p:cNvPicPr>
            <a:picLocks noChangeAspect="1"/>
          </p:cNvPicPr>
          <p:nvPr/>
        </p:nvPicPr>
        <p:blipFill>
          <a:blip r:embed="rId6"/>
          <a:stretch>
            <a:fillRect/>
          </a:stretch>
        </p:blipFill>
        <p:spPr>
          <a:xfrm>
            <a:off x="604837" y="5594390"/>
            <a:ext cx="864037" cy="1563053"/>
          </a:xfrm>
          <a:prstGeom prst="rect">
            <a:avLst/>
          </a:prstGeom>
        </p:spPr>
      </p:pic>
      <p:sp>
        <p:nvSpPr>
          <p:cNvPr id="13" name="Text 7"/>
          <p:cNvSpPr/>
          <p:nvPr/>
        </p:nvSpPr>
        <p:spPr>
          <a:xfrm>
            <a:off x="1728073" y="5767149"/>
            <a:ext cx="2828211" cy="284202"/>
          </a:xfrm>
          <a:prstGeom prst="rect">
            <a:avLst/>
          </a:prstGeom>
          <a:noFill/>
          <a:ln/>
        </p:spPr>
        <p:txBody>
          <a:bodyPr wrap="none" rtlCol="0" anchor="t"/>
          <a:lstStyle/>
          <a:p>
            <a:pPr marL="0" indent="0" algn="l">
              <a:lnSpc>
                <a:spcPts val="2238"/>
              </a:lnSpc>
              <a:buNone/>
            </a:pPr>
            <a:r>
              <a:rPr lang="en-US" sz="1791" b="1" dirty="0">
                <a:solidFill>
                  <a:srgbClr val="3B3535"/>
                </a:solidFill>
                <a:latin typeface="Alexandria" pitchFamily="34" charset="0"/>
                <a:ea typeface="Alexandria" pitchFamily="34" charset="-122"/>
                <a:cs typeface="Alexandria" pitchFamily="34" charset="-120"/>
              </a:rPr>
              <a:t>Testing and Deployment</a:t>
            </a:r>
            <a:endParaRPr lang="en-US" sz="1791" dirty="0"/>
          </a:p>
        </p:txBody>
      </p:sp>
      <p:sp>
        <p:nvSpPr>
          <p:cNvPr id="14" name="Text 8"/>
          <p:cNvSpPr/>
          <p:nvPr/>
        </p:nvSpPr>
        <p:spPr>
          <a:xfrm>
            <a:off x="1728073" y="6154936"/>
            <a:ext cx="6811089" cy="829747"/>
          </a:xfrm>
          <a:prstGeom prst="rect">
            <a:avLst/>
          </a:prstGeom>
          <a:noFill/>
          <a:ln/>
        </p:spPr>
        <p:txBody>
          <a:bodyPr wrap="square" rtlCol="0" anchor="t"/>
          <a:lstStyle/>
          <a:p>
            <a:pPr marL="0" indent="0" algn="l">
              <a:lnSpc>
                <a:spcPts val="2177"/>
              </a:lnSpc>
              <a:buNone/>
            </a:pPr>
            <a:r>
              <a:rPr lang="en-US" sz="1361" dirty="0">
                <a:solidFill>
                  <a:srgbClr val="3B3535"/>
                </a:solidFill>
                <a:latin typeface="Sora" pitchFamily="34" charset="0"/>
                <a:ea typeface="Sora" pitchFamily="34" charset="-122"/>
                <a:cs typeface="Sora" pitchFamily="34" charset="-120"/>
              </a:rPr>
              <a:t>Rigorous testing, including unit testing, integration testing, and user acceptance testing, ensured the application's stability, security, and functionality before deployment.</a:t>
            </a:r>
            <a:endParaRPr lang="en-US" sz="136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231267"/>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2389227"/>
          </a:xfrm>
          <a:prstGeom prst="rect">
            <a:avLst/>
          </a:prstGeom>
        </p:spPr>
      </p:pic>
      <p:sp>
        <p:nvSpPr>
          <p:cNvPr id="5" name="Text 2"/>
          <p:cNvSpPr/>
          <p:nvPr/>
        </p:nvSpPr>
        <p:spPr>
          <a:xfrm>
            <a:off x="1819989" y="2914769"/>
            <a:ext cx="10990421" cy="1257538"/>
          </a:xfrm>
          <a:prstGeom prst="rect">
            <a:avLst/>
          </a:prstGeom>
          <a:noFill/>
          <a:ln/>
        </p:spPr>
        <p:txBody>
          <a:bodyPr wrap="square" rtlCol="0" anchor="t"/>
          <a:lstStyle/>
          <a:p>
            <a:pPr marL="0" indent="0">
              <a:lnSpc>
                <a:spcPts val="4951"/>
              </a:lnSpc>
              <a:buNone/>
            </a:pPr>
            <a:r>
              <a:rPr lang="en-US" sz="3961" b="1" dirty="0">
                <a:solidFill>
                  <a:srgbClr val="1F1E1E"/>
                </a:solidFill>
                <a:latin typeface="Alexandria" pitchFamily="34" charset="0"/>
                <a:ea typeface="Alexandria" pitchFamily="34" charset="-122"/>
                <a:cs typeface="Alexandria" pitchFamily="34" charset="-120"/>
              </a:rPr>
              <a:t>Security and Compliance: Protecting User Data and Ensuring Trust</a:t>
            </a:r>
            <a:endParaRPr lang="en-US" sz="3961" dirty="0"/>
          </a:p>
        </p:txBody>
      </p:sp>
      <p:pic>
        <p:nvPicPr>
          <p:cNvPr id="6" name="Image 1" descr="preencoded.png"/>
          <p:cNvPicPr>
            <a:picLocks noChangeAspect="1"/>
          </p:cNvPicPr>
          <p:nvPr/>
        </p:nvPicPr>
        <p:blipFill>
          <a:blip r:embed="rId4"/>
          <a:stretch>
            <a:fillRect/>
          </a:stretch>
        </p:blipFill>
        <p:spPr>
          <a:xfrm>
            <a:off x="1819989" y="4459010"/>
            <a:ext cx="477798" cy="477798"/>
          </a:xfrm>
          <a:prstGeom prst="rect">
            <a:avLst/>
          </a:prstGeom>
        </p:spPr>
      </p:pic>
      <p:sp>
        <p:nvSpPr>
          <p:cNvPr id="7" name="Text 3"/>
          <p:cNvSpPr/>
          <p:nvPr/>
        </p:nvSpPr>
        <p:spPr>
          <a:xfrm>
            <a:off x="1819989" y="5127903"/>
            <a:ext cx="2514957" cy="314325"/>
          </a:xfrm>
          <a:prstGeom prst="rect">
            <a:avLst/>
          </a:prstGeom>
          <a:noFill/>
          <a:ln/>
        </p:spPr>
        <p:txBody>
          <a:bodyPr wrap="none" rtlCol="0" anchor="t"/>
          <a:lstStyle/>
          <a:p>
            <a:pPr marL="0" indent="0" algn="l">
              <a:lnSpc>
                <a:spcPts val="2475"/>
              </a:lnSpc>
              <a:buNone/>
            </a:pPr>
            <a:r>
              <a:rPr lang="en-US" sz="1980" b="1" dirty="0">
                <a:solidFill>
                  <a:srgbClr val="3B3535"/>
                </a:solidFill>
                <a:latin typeface="Alexandria" pitchFamily="34" charset="0"/>
                <a:ea typeface="Alexandria" pitchFamily="34" charset="-122"/>
                <a:cs typeface="Alexandria" pitchFamily="34" charset="-120"/>
              </a:rPr>
              <a:t>Data Encryption</a:t>
            </a:r>
            <a:endParaRPr lang="en-US" sz="1980" dirty="0"/>
          </a:p>
        </p:txBody>
      </p:sp>
      <p:sp>
        <p:nvSpPr>
          <p:cNvPr id="8" name="Text 4"/>
          <p:cNvSpPr/>
          <p:nvPr/>
        </p:nvSpPr>
        <p:spPr>
          <a:xfrm>
            <a:off x="1819989" y="5556885"/>
            <a:ext cx="3472339" cy="1528763"/>
          </a:xfrm>
          <a:prstGeom prst="rect">
            <a:avLst/>
          </a:prstGeom>
          <a:noFill/>
          <a:ln/>
        </p:spPr>
        <p:txBody>
          <a:bodyPr wrap="square" rtlCol="0" anchor="t"/>
          <a:lstStyle/>
          <a:p>
            <a:pPr marL="0" indent="0" algn="l">
              <a:lnSpc>
                <a:spcPts val="2408"/>
              </a:lnSpc>
              <a:buNone/>
            </a:pPr>
            <a:r>
              <a:rPr lang="en-US" sz="1505" dirty="0">
                <a:solidFill>
                  <a:srgbClr val="3B3535"/>
                </a:solidFill>
                <a:latin typeface="Sora" pitchFamily="34" charset="0"/>
                <a:ea typeface="Sora" pitchFamily="34" charset="-122"/>
                <a:cs typeface="Sora" pitchFamily="34" charset="-120"/>
              </a:rPr>
              <a:t>Sensitive user data is protected with industry-standard encryption techniques, ensuring confidentiality and preventing unauthorized access.</a:t>
            </a:r>
            <a:endParaRPr lang="en-US" sz="1505" dirty="0"/>
          </a:p>
        </p:txBody>
      </p:sp>
      <p:pic>
        <p:nvPicPr>
          <p:cNvPr id="9" name="Image 2" descr="preencoded.png"/>
          <p:cNvPicPr>
            <a:picLocks noChangeAspect="1"/>
          </p:cNvPicPr>
          <p:nvPr/>
        </p:nvPicPr>
        <p:blipFill>
          <a:blip r:embed="rId4"/>
          <a:stretch>
            <a:fillRect/>
          </a:stretch>
        </p:blipFill>
        <p:spPr>
          <a:xfrm>
            <a:off x="5579031" y="4459010"/>
            <a:ext cx="477798" cy="477798"/>
          </a:xfrm>
          <a:prstGeom prst="rect">
            <a:avLst/>
          </a:prstGeom>
        </p:spPr>
      </p:pic>
      <p:sp>
        <p:nvSpPr>
          <p:cNvPr id="10" name="Text 5"/>
          <p:cNvSpPr/>
          <p:nvPr/>
        </p:nvSpPr>
        <p:spPr>
          <a:xfrm>
            <a:off x="5579031" y="5127903"/>
            <a:ext cx="3431977" cy="314325"/>
          </a:xfrm>
          <a:prstGeom prst="rect">
            <a:avLst/>
          </a:prstGeom>
          <a:noFill/>
          <a:ln/>
        </p:spPr>
        <p:txBody>
          <a:bodyPr wrap="none" rtlCol="0" anchor="t"/>
          <a:lstStyle/>
          <a:p>
            <a:pPr marL="0" indent="0" algn="l">
              <a:lnSpc>
                <a:spcPts val="2475"/>
              </a:lnSpc>
              <a:buNone/>
            </a:pPr>
            <a:r>
              <a:rPr lang="en-US" sz="1980" b="1" dirty="0">
                <a:solidFill>
                  <a:srgbClr val="3B3535"/>
                </a:solidFill>
                <a:latin typeface="Alexandria" pitchFamily="34" charset="0"/>
                <a:ea typeface="Alexandria" pitchFamily="34" charset="-122"/>
                <a:cs typeface="Alexandria" pitchFamily="34" charset="-120"/>
              </a:rPr>
              <a:t>Two-Factor Authentication</a:t>
            </a:r>
            <a:endParaRPr lang="en-US" sz="1980" dirty="0"/>
          </a:p>
        </p:txBody>
      </p:sp>
      <p:sp>
        <p:nvSpPr>
          <p:cNvPr id="11" name="Text 6"/>
          <p:cNvSpPr/>
          <p:nvPr/>
        </p:nvSpPr>
        <p:spPr>
          <a:xfrm>
            <a:off x="5579031" y="5556885"/>
            <a:ext cx="3472339" cy="1528763"/>
          </a:xfrm>
          <a:prstGeom prst="rect">
            <a:avLst/>
          </a:prstGeom>
          <a:noFill/>
          <a:ln/>
        </p:spPr>
        <p:txBody>
          <a:bodyPr wrap="square" rtlCol="0" anchor="t"/>
          <a:lstStyle/>
          <a:p>
            <a:pPr marL="0" indent="0" algn="l">
              <a:lnSpc>
                <a:spcPts val="2408"/>
              </a:lnSpc>
              <a:buNone/>
            </a:pPr>
            <a:r>
              <a:rPr lang="en-US" sz="1505" dirty="0">
                <a:solidFill>
                  <a:srgbClr val="3B3535"/>
                </a:solidFill>
                <a:latin typeface="Sora" pitchFamily="34" charset="0"/>
                <a:ea typeface="Sora" pitchFamily="34" charset="-122"/>
                <a:cs typeface="Sora" pitchFamily="34" charset="-120"/>
              </a:rPr>
              <a:t>An extra layer of security is implemented using two-factor authentication, requiring users to provide two forms of identification before accessing their accounts.</a:t>
            </a:r>
            <a:endParaRPr lang="en-US" sz="1505" dirty="0"/>
          </a:p>
        </p:txBody>
      </p:sp>
      <p:pic>
        <p:nvPicPr>
          <p:cNvPr id="12" name="Image 3" descr="preencoded.png"/>
          <p:cNvPicPr>
            <a:picLocks noChangeAspect="1"/>
          </p:cNvPicPr>
          <p:nvPr/>
        </p:nvPicPr>
        <p:blipFill>
          <a:blip r:embed="rId4"/>
          <a:stretch>
            <a:fillRect/>
          </a:stretch>
        </p:blipFill>
        <p:spPr>
          <a:xfrm>
            <a:off x="9338072" y="4459010"/>
            <a:ext cx="477798" cy="477798"/>
          </a:xfrm>
          <a:prstGeom prst="rect">
            <a:avLst/>
          </a:prstGeom>
        </p:spPr>
      </p:pic>
      <p:sp>
        <p:nvSpPr>
          <p:cNvPr id="13" name="Text 7"/>
          <p:cNvSpPr/>
          <p:nvPr/>
        </p:nvSpPr>
        <p:spPr>
          <a:xfrm>
            <a:off x="9338072" y="5127903"/>
            <a:ext cx="3472339" cy="628650"/>
          </a:xfrm>
          <a:prstGeom prst="rect">
            <a:avLst/>
          </a:prstGeom>
          <a:noFill/>
          <a:ln/>
        </p:spPr>
        <p:txBody>
          <a:bodyPr wrap="square" rtlCol="0" anchor="t"/>
          <a:lstStyle/>
          <a:p>
            <a:pPr marL="0" indent="0" algn="l">
              <a:lnSpc>
                <a:spcPts val="2475"/>
              </a:lnSpc>
              <a:buNone/>
            </a:pPr>
            <a:r>
              <a:rPr lang="en-US" sz="1980" b="1" dirty="0">
                <a:solidFill>
                  <a:srgbClr val="3B3535"/>
                </a:solidFill>
                <a:latin typeface="Alexandria" pitchFamily="34" charset="0"/>
                <a:ea typeface="Alexandria" pitchFamily="34" charset="-122"/>
                <a:cs typeface="Alexandria" pitchFamily="34" charset="-120"/>
              </a:rPr>
              <a:t>Compliance with Regulations</a:t>
            </a:r>
            <a:endParaRPr lang="en-US" sz="1980" dirty="0"/>
          </a:p>
        </p:txBody>
      </p:sp>
      <p:sp>
        <p:nvSpPr>
          <p:cNvPr id="14" name="Text 8"/>
          <p:cNvSpPr/>
          <p:nvPr/>
        </p:nvSpPr>
        <p:spPr>
          <a:xfrm>
            <a:off x="9338072" y="5871210"/>
            <a:ext cx="3472339" cy="1834515"/>
          </a:xfrm>
          <a:prstGeom prst="rect">
            <a:avLst/>
          </a:prstGeom>
          <a:noFill/>
          <a:ln/>
        </p:spPr>
        <p:txBody>
          <a:bodyPr wrap="square" rtlCol="0" anchor="t"/>
          <a:lstStyle/>
          <a:p>
            <a:pPr marL="0" indent="0" algn="l">
              <a:lnSpc>
                <a:spcPts val="2408"/>
              </a:lnSpc>
              <a:buNone/>
            </a:pPr>
            <a:r>
              <a:rPr lang="en-US" sz="1505" dirty="0">
                <a:solidFill>
                  <a:srgbClr val="3B3535"/>
                </a:solidFill>
                <a:latin typeface="Sora" pitchFamily="34" charset="0"/>
                <a:ea typeface="Sora" pitchFamily="34" charset="-122"/>
                <a:cs typeface="Sora" pitchFamily="34" charset="-120"/>
              </a:rPr>
              <a:t>The application adheres to all relevant Sri Lankan financial regulations and international security standards, ensuring compliance and maintaining user trust.</a:t>
            </a:r>
            <a:endParaRPr lang="en-US" sz="150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txBody>
          <a:bodyPr/>
          <a:lstStyle/>
          <a:p>
            <a:endParaRPr lang="en-US"/>
          </a:p>
        </p:txBody>
      </p:sp>
      <p:sp>
        <p:nvSpPr>
          <p:cNvPr id="3" name="Shape 1"/>
          <p:cNvSpPr/>
          <p:nvPr/>
        </p:nvSpPr>
        <p:spPr>
          <a:xfrm>
            <a:off x="0" y="0"/>
            <a:ext cx="14630400" cy="8229600"/>
          </a:xfrm>
          <a:prstGeom prst="rect">
            <a:avLst/>
          </a:prstGeom>
          <a:solidFill>
            <a:srgbClr val="FFFAF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658058" y="1737241"/>
            <a:ext cx="7827883" cy="1855589"/>
          </a:xfrm>
          <a:prstGeom prst="rect">
            <a:avLst/>
          </a:prstGeom>
          <a:noFill/>
          <a:ln/>
        </p:spPr>
        <p:txBody>
          <a:bodyPr wrap="square" rtlCol="0" anchor="t"/>
          <a:lstStyle/>
          <a:p>
            <a:pPr marL="0" indent="0">
              <a:lnSpc>
                <a:spcPts val="4870"/>
              </a:lnSpc>
              <a:buNone/>
            </a:pPr>
            <a:r>
              <a:rPr lang="en-US" sz="3896" b="1" dirty="0">
                <a:solidFill>
                  <a:srgbClr val="1F1E1E"/>
                </a:solidFill>
                <a:latin typeface="Alexandria" pitchFamily="34" charset="0"/>
                <a:ea typeface="Alexandria" pitchFamily="34" charset="-122"/>
                <a:cs typeface="Alexandria" pitchFamily="34" charset="-120"/>
              </a:rPr>
              <a:t>Conclusion: Empowering Customers and Shaping the Future of Banking</a:t>
            </a:r>
            <a:endParaRPr lang="en-US" sz="3896" dirty="0"/>
          </a:p>
        </p:txBody>
      </p:sp>
      <p:sp>
        <p:nvSpPr>
          <p:cNvPr id="6" name="Text 3"/>
          <p:cNvSpPr/>
          <p:nvPr/>
        </p:nvSpPr>
        <p:spPr>
          <a:xfrm>
            <a:off x="658058" y="3874770"/>
            <a:ext cx="7827883" cy="1503759"/>
          </a:xfrm>
          <a:prstGeom prst="rect">
            <a:avLst/>
          </a:prstGeom>
          <a:noFill/>
          <a:ln/>
        </p:spPr>
        <p:txBody>
          <a:bodyPr wrap="square" rtlCol="0" anchor="t"/>
          <a:lstStyle/>
          <a:p>
            <a:pPr marL="0" indent="0">
              <a:lnSpc>
                <a:spcPts val="2369"/>
              </a:lnSpc>
              <a:buNone/>
            </a:pPr>
            <a:r>
              <a:rPr lang="en-US" sz="1481" dirty="0">
                <a:solidFill>
                  <a:srgbClr val="3B3535"/>
                </a:solidFill>
                <a:latin typeface="Sora" pitchFamily="34" charset="0"/>
                <a:ea typeface="Sora" pitchFamily="34" charset="-122"/>
                <a:cs typeface="Sora" pitchFamily="34" charset="-120"/>
              </a:rPr>
              <a:t>The Trustfund Bank web application represents a significant step forward in Sri Lanka's financial landscape, empowering customers with innovative and secure banking solutions. By leveraging technology, prioritizing user experience, and upholding the highest security standards, the application aims to transform how individuals and businesses manage their finances.</a:t>
            </a:r>
            <a:endParaRPr lang="en-US" sz="1481" dirty="0"/>
          </a:p>
        </p:txBody>
      </p:sp>
      <p:sp>
        <p:nvSpPr>
          <p:cNvPr id="7" name="Text 4"/>
          <p:cNvSpPr/>
          <p:nvPr/>
        </p:nvSpPr>
        <p:spPr>
          <a:xfrm>
            <a:off x="658058" y="5589984"/>
            <a:ext cx="7827883" cy="902256"/>
          </a:xfrm>
          <a:prstGeom prst="rect">
            <a:avLst/>
          </a:prstGeom>
          <a:noFill/>
          <a:ln/>
        </p:spPr>
        <p:txBody>
          <a:bodyPr wrap="square" rtlCol="0" anchor="t"/>
          <a:lstStyle/>
          <a:p>
            <a:pPr marL="0" indent="0">
              <a:lnSpc>
                <a:spcPts val="2369"/>
              </a:lnSpc>
              <a:buNone/>
            </a:pPr>
            <a:r>
              <a:rPr lang="en-US" sz="1481" dirty="0">
                <a:solidFill>
                  <a:srgbClr val="3B3535"/>
                </a:solidFill>
                <a:latin typeface="Sora" pitchFamily="34" charset="0"/>
                <a:ea typeface="Sora" pitchFamily="34" charset="-122"/>
                <a:cs typeface="Sora" pitchFamily="34" charset="-120"/>
              </a:rPr>
              <a:t>As we continue to evolve and improve the application, we invite your feedback and encourage you to explore its features. We believe that together, we can shape a future where banking is more accessible, secure, and empowering for everyone.</a:t>
            </a:r>
            <a:endParaRPr lang="en-US" sz="148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856</Words>
  <Application>Microsoft Office PowerPoint</Application>
  <PresentationFormat>Custom</PresentationFormat>
  <Paragraphs>81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Alexandria</vt:lpstr>
      <vt:lpstr>Arial</vt:lpstr>
      <vt:lpstr>Sora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PS/2020/010 - JAYASEKARA A.E.P.P.</cp:lastModifiedBy>
  <cp:revision>3</cp:revision>
  <dcterms:created xsi:type="dcterms:W3CDTF">2024-08-11T12:55:26Z</dcterms:created>
  <dcterms:modified xsi:type="dcterms:W3CDTF">2024-08-11T13:02:08Z</dcterms:modified>
</cp:coreProperties>
</file>